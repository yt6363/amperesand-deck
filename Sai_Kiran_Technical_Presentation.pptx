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F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BBFF"/>
                </a:solidFill>
                <a:latin typeface="Calibri"/>
              </a:defRPr>
            </a:pPr>
            <a:r>
              <a:t>AMPERESAND · TECHNICAL INTERVIEW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Georgia"/>
              </a:defRPr>
            </a:pPr>
            <a:r>
              <a:t>Sai Kiran Reddy, Konda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DDFF"/>
                </a:solidFill>
                <a:latin typeface="Calibri"/>
              </a:defRPr>
            </a:pPr>
            <a:r>
              <a:t>Introduction → Education → Career → Technical Presentation →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BDD"/>
                </a:solidFill>
                <a:latin typeface="Calibri"/>
              </a:defRPr>
            </a:pPr>
            <a:r>
              <a:t>Role: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5720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BDD"/>
                </a:solidFill>
                <a:latin typeface="Calibri"/>
              </a:defRPr>
            </a:pPr>
            <a:r>
              <a:t>Focus: Distributed Systems &amp; Cloud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5FF"/>
                </a:solidFill>
                <a:latin typeface="Calibri"/>
              </a:defRPr>
            </a:pPr>
            <a:r>
              <a:t>01 · EDUCATION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Georgia"/>
              </a:defRPr>
            </a:pPr>
            <a:r>
              <a:t>Hardware roots, software ambitions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Anna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B.E. — Electronics &amp; Communication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Microprocessors · Embedded Systems · Digital Electronics · Instrumentation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Calibri"/>
              </a:defRPr>
            </a:pPr>
            <a:r>
              <a:t>Northeastern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M.S. — Computer Software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8346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Algorithms · Database Design · Scalable Cloud Infrastructure · DevOps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5FF"/>
                </a:solidFill>
                <a:latin typeface="Calibri"/>
              </a:defRPr>
            </a:pPr>
            <a:r>
              <a:t>02 · CAREER TRAJECTORY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Georgia"/>
              </a:defRPr>
            </a:pPr>
            <a:r>
              <a:t>From mainframes to microservices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28600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8001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005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>
                    <a:solidFill>
                      <a:srgbClr val="005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What I Did</a:t>
                      </a:r>
                    </a:p>
                  </a:txBody>
                  <a:tcPr>
                    <a:solidFill>
                      <a:srgbClr val="0055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Cognizant / Lincoln Financial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Project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Migrated Federal Insurance from IBM Mainframe &amp; S2K to ETL pipelines. 4 teams, 3 time zones, COVID. Delivered in 6 months.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Digital HIE Inc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Technical Lead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Led DirectTrust HISP accreditation from zero. HIPAA compliance, platform architecture, encryption, interoperability. 4 months.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Capital 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Systems Architect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Redesigned Transaction &amp; Account Stores for 130M+ accounts. Monolith to serverless on AWS. Terraform, Go, DynamoDB.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5FF"/>
                </a:solidFill>
                <a:latin typeface="Calibri"/>
              </a:defRPr>
            </a:pPr>
            <a:r>
              <a:t>03 · TECHNICAL INTERESTS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Georgia"/>
              </a:defRPr>
            </a:pPr>
            <a:r>
              <a:t>Where hardware meets scalable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●  Architecture &amp; System Design — distributed systems at enterprise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●  Multi-Cloud Tenancies — bare metal + cloud provider infrastructure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●  Bridging Physical Systems with scalable software layers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●  Cryptography &amp; Hashing — security at the protocol level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FC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BBFF"/>
                </a:solidFill>
                <a:latin typeface="Calibri"/>
              </a:defRPr>
            </a:pPr>
            <a:r>
              <a:t>TECHNICAL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Georgia"/>
              </a:defRPr>
            </a:pPr>
            <a:r>
              <a:t>Capital One: Monolith to Microservices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DDFF"/>
                </a:solidFill>
                <a:latin typeface="Calibri"/>
              </a:defRPr>
            </a:pPr>
            <a:r>
              <a:t>Redesigning Transaction &amp; Account Stores for 130M+ accounts across Card, Bank, Auto, and Global Finance.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BDD"/>
                </a:solidFill>
                <a:latin typeface="Calibri"/>
              </a:defRPr>
            </a:pPr>
            <a:r>
              <a:t>Duration: 8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4572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BDD"/>
                </a:solidFill>
                <a:latin typeface="Calibri"/>
              </a:defRPr>
            </a:pPr>
            <a:r>
              <a:t>Scale: 130M+ accounts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BDD"/>
                </a:solidFill>
                <a:latin typeface="Calibri"/>
              </a:defRPr>
            </a:pPr>
            <a:r>
              <a:t>Stack: Go, DynamoDB, Lambda, Terraform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5FF"/>
                </a:solidFill>
                <a:latin typeface="Calibri"/>
              </a:defRPr>
            </a:pPr>
            <a:r>
              <a:t>04 ·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Georgia"/>
              </a:defRPr>
            </a:pPr>
            <a:r>
              <a:t>One monolith. Four lines of business. It couldn't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Capital One's Transaction and Account systems ran as a single monolithic application. Card, Bank, Auto, and Global Finance shared the same codebase, database, and deployment pipeline.</a:t>
            </a:r>
            <a:br/>
            <a:br/>
            <a:r>
              <a:t>Changes to one LOB risked breaking another. Deployments were slow. Performance bottlenecks cascaded everywhere.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Calibri"/>
              </a:defRPr>
            </a:pPr>
            <a:r>
              <a:t>Before → After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2626"/>
                </a:solidFill>
                <a:latin typeface="Calibri"/>
              </a:defRPr>
            </a:pPr>
            <a:r>
              <a:t>Monolith — Single app, all LOBs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651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Calibri"/>
              </a:defRPr>
            </a:pPr>
            <a:r>
              <a:t>Card / Bank / Auto / Global — Independent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2918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2626"/>
                </a:solidFill>
                <a:latin typeface="Calibri"/>
              </a:defRPr>
            </a:pPr>
            <a:r>
              <a:t>Shared DB — One schema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32918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Calibri"/>
              </a:defRPr>
            </a:pPr>
            <a:r>
              <a:t>Own data model per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2626"/>
                </a:solidFill>
                <a:latin typeface="Calibri"/>
              </a:defRPr>
            </a:pPr>
            <a:r>
              <a:t>Coupled — Change one, risk 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3931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Calibri"/>
              </a:defRPr>
            </a:pPr>
            <a:r>
              <a:t>Isolated failures, scale independently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5FF"/>
                </a:solidFill>
                <a:latin typeface="Calibri"/>
              </a:defRPr>
            </a:pPr>
            <a:r>
              <a:t>05 ·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Georgia"/>
              </a:defRPr>
            </a:pPr>
            <a:r>
              <a:t>Product requirements drive every decision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1168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6096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Step</a:t>
                      </a:r>
                    </a:p>
                  </a:txBody>
                  <a:tcPr>
                    <a:solidFill>
                      <a:srgbClr val="005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What We Did</a:t>
                      </a:r>
                    </a:p>
                  </a:txBody>
                  <a:tcPr>
                    <a:solidFill>
                      <a:srgbClr val="005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0055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01 — Requirements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Mapped every account type and transaction flow. Stakeholders: Product Owners, Vendors, Architects.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Account ID &amp; Transaction ID schema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02 — 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Designed with room for future changes without breaking migration.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Flexible document model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03 — 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SQL vs NoSQL against current and future scale.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NoSQL — DynamoDB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04 — 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Selected for 15+ year horizon, performance, concurrency.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Go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05 —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Containers (k8s) vs serverless against cost and ops complexity.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Serverless — Lambda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5FF"/>
                </a:solidFill>
                <a:latin typeface="Calibri"/>
              </a:defRPr>
            </a:pPr>
            <a:r>
              <a:t>06 · ARCHITECTURE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Georgia"/>
              </a:defRPr>
            </a:pPr>
            <a:r>
              <a:t>Request flow: client to DynamoDB and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Users → Security → Cloud Doctor → Load Balancer → SQS → Lambda → DynamoDB → Monitoring → Cost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Calibri"/>
              </a:defRPr>
            </a:pPr>
            <a:r>
              <a:t>INGRESS &amp;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108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Calibri"/>
              </a:defRPr>
            </a:pPr>
            <a:r>
              <a:t>Users / Clients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108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108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Calibri"/>
              </a:defRPr>
            </a:pPr>
            <a:r>
              <a:t>Security &amp; Compliance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108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3108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Calibri"/>
              </a:defRPr>
            </a:pPr>
            <a:r>
              <a:t>Cloud Doctor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Calibri"/>
              </a:defRPr>
            </a:pPr>
            <a:r>
              <a:t>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29768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Calibri"/>
              </a:defRPr>
            </a:pPr>
            <a:r>
              <a:t>ALB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429768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29768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Calibri"/>
              </a:defRPr>
            </a:pPr>
            <a:r>
              <a:t>SQS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29768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29768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Calibri"/>
              </a:defRPr>
            </a:pPr>
            <a:r>
              <a:t>Lambda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429768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Calibri"/>
              </a:defRPr>
            </a:pPr>
            <a:r>
              <a:t>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429768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Calibri"/>
              </a:defRPr>
            </a:pPr>
            <a:r>
              <a:t>DynamoDB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Calibri"/>
              </a:defRPr>
            </a:pPr>
            <a:r>
              <a:t>OBSERVABILITY &amp;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4864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Calibri"/>
              </a:defRPr>
            </a:pPr>
            <a:r>
              <a:t>X-Ray / Splunk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4864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4864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Calibri"/>
              </a:defRPr>
            </a:pPr>
            <a:r>
              <a:t>CloudWatch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4864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54864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Calibri"/>
              </a:defRPr>
            </a:pPr>
            <a:r>
              <a:t>Cost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54864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548640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F172A"/>
                </a:solidFill>
                <a:latin typeface="Calibri"/>
              </a:defRPr>
            </a:pPr>
            <a:r>
              <a:t>Logs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5FF"/>
                </a:solidFill>
                <a:latin typeface="Calibri"/>
              </a:defRPr>
            </a:pPr>
            <a:r>
              <a:t>07 · CI/CD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Georgia"/>
              </a:defRPr>
            </a:pPr>
            <a:r>
              <a:t>Ship fast. Test everything.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Georgia"/>
              </a:defRPr>
            </a:pPr>
            <a:r>
              <a:t>CI/CD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Go Source → GitHub → Jenkins → JFrog → Lambda (all LOBs)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Georgia"/>
              </a:defRPr>
            </a:pPr>
            <a:r>
              <a:t>Testing Coverage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56032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512064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05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Coverage</a:t>
                      </a:r>
                    </a:p>
                  </a:txBody>
                  <a:tcPr>
                    <a:solidFill>
                      <a:srgbClr val="005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Detail</a:t>
                      </a:r>
                    </a:p>
                  </a:txBody>
                  <a:tcPr>
                    <a:solidFill>
                      <a:srgbClr val="0055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Sonar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Full codebase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Business logic, components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BDD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Gherkin — API, AWS, DynamoDB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1B+ 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Apache JMeter load testing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5FF"/>
                </a:solidFill>
                <a:latin typeface="Calibri"/>
              </a:defRPr>
            </a:pPr>
            <a:r>
              <a:t>08 · FINALIZED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Georgia"/>
              </a:defRPr>
            </a:pPr>
            <a:r>
              <a:t>NoSQL + Go + Serverless. Purpose-built for scale.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●  Business use cases decide the entire 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●  Schema designed with room for future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●  DynamoDB + Go — ideal and cost-effective at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●  1,000+ concurrent Lambdas handling millions of records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5FF"/>
                </a:solidFill>
                <a:latin typeface="Calibri"/>
              </a:defRPr>
            </a:pPr>
            <a:r>
              <a:t>09 · IMPACT &amp;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Georgia"/>
              </a:defRPr>
            </a:pPr>
            <a:r>
              <a:t>Challenge existing designs. Let the product decide.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55FF"/>
                </a:solidFill>
                <a:latin typeface="Georgia"/>
              </a:defRPr>
            </a:pPr>
            <a:r>
              <a:t>130M+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Calibri"/>
              </a:defRPr>
            </a:pPr>
            <a:r>
              <a:t>ACCOUNTS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55FF"/>
                </a:solidFill>
                <a:latin typeface="Georgia"/>
              </a:defRPr>
            </a:pPr>
            <a:r>
              <a:t>8 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Calibri"/>
              </a:defRPr>
            </a:pPr>
            <a:r>
              <a:t>DELIVERED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55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Calibri"/>
              </a:defRPr>
            </a:pPr>
            <a:r>
              <a:t>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1031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55FF"/>
                </a:solidFill>
                <a:latin typeface="Georgia"/>
              </a:defRPr>
            </a:pPr>
            <a:r>
              <a:t>98%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94A3B8"/>
                </a:solidFill>
                <a:latin typeface="Calibri"/>
              </a:defRPr>
            </a:pPr>
            <a:r>
              <a:t>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●  Product requirements define architecture. Schema → DB → Cloud → Language.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9776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●  Challenge inherited designs. We moved from k8s to serverless. Saved cost and complexity.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●  Root-cause analysis over gut. Account volumes and growth projections were the foundation.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983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●  Ripple effect. Other teams adopted the new patterns, including batch processing.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55FF"/>
                </a:solidFill>
                <a:latin typeface="Calibri"/>
              </a:defRPr>
            </a:pPr>
            <a:r>
              <a:t>10 · PERSONAL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Georgia"/>
              </a:defRPr>
            </a:pPr>
            <a:r>
              <a:t>A few things beyond the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5FF"/>
                </a:solidFill>
                <a:latin typeface="Calibri"/>
              </a:defRPr>
            </a:pPr>
            <a:r>
              <a:t>Sports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7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Volleyball, Cricket, Badminton. Compete whenever I can.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5FF"/>
                </a:solidFill>
                <a:latin typeface="Calibri"/>
              </a:defRPr>
            </a:pPr>
            <a:r>
              <a:t>Driving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6887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Love driving through Manhattan and Jersey City.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5FF"/>
                </a:solidFill>
                <a:latin typeface="Calibri"/>
              </a:defRPr>
            </a:pPr>
            <a:r>
              <a:t>Languages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English, Telugu, Tamil, Hindi, Kannada — 4+ languages.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490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55FF"/>
                </a:solidFill>
                <a:latin typeface="Calibri"/>
              </a:defRPr>
            </a:pPr>
            <a:r>
              <a:t>Exploring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Calibri"/>
              </a:defRPr>
            </a:pPr>
            <a:r>
              <a:t>New cuisines, new places. Curiosity doesn't stop at code.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BBFF"/>
                </a:solidFill>
                <a:latin typeface="Calibri"/>
              </a:defRPr>
            </a:pPr>
            <a: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Georgia"/>
              </a:defRPr>
            </a:pPr>
            <a:r>
              <a:t>Ok, shoot.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DDFF"/>
                </a:solidFill>
                <a:latin typeface="Calibri"/>
              </a:defRPr>
            </a:pPr>
            <a:r>
              <a:t>Happy to go deeper on any technical decisions, trade-offs, challenges, or lessons learned.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BDD"/>
                </a:solidFill>
                <a:latin typeface="Calibri"/>
              </a:defRPr>
            </a:pPr>
            <a:r>
              <a:t>LinkedIn: linkedin.com/in/saikiranreddykonda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BBDD"/>
                </a:solidFill>
                <a:latin typeface="Calibri"/>
              </a:defRPr>
            </a:pPr>
            <a:r>
              <a:t>Email: konda.saik@northeastern.edu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